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SimSong Bold"/>
        <a:ea typeface="SimSong Bold"/>
        <a:cs typeface="SimSong Bold"/>
        <a:sym typeface="SimSong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Shape 17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solidFill>
                  <a:schemeClr val="accent1">
                    <a:satOff val="-9155"/>
                    <a:lumOff val="-32673"/>
                  </a:schemeClr>
                </a:solidFill>
                <a:latin typeface="SimSong Regular"/>
                <a:ea typeface="SimSong Regular"/>
                <a:cs typeface="SimSong Regular"/>
                <a:sym typeface="SimSong Regular"/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</a:defRPr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线条"/>
          <p:cNvSpPr/>
          <p:nvPr/>
        </p:nvSpPr>
        <p:spPr>
          <a:xfrm>
            <a:off x="-149414" y="575780"/>
            <a:ext cx="21477107" cy="1"/>
          </a:xfrm>
          <a:prstGeom prst="line">
            <a:avLst/>
          </a:prstGeom>
          <a:ln w="25400">
            <a:solidFill>
              <a:srgbClr val="0433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" name="第一章 函数与极限"/>
          <p:cNvSpPr txBox="1"/>
          <p:nvPr/>
        </p:nvSpPr>
        <p:spPr>
          <a:xfrm>
            <a:off x="20944546" y="372580"/>
            <a:ext cx="346590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2400">
                <a:solidFill>
                  <a:srgbClr val="0433FF"/>
                </a:solidFill>
              </a:defRPr>
            </a:lvl1pPr>
          </a:lstStyle>
          <a:p>
            <a:pPr/>
            <a:r>
              <a:t>第一章 函数与极限</a:t>
            </a:r>
          </a:p>
        </p:txBody>
      </p:sp>
      <p:sp>
        <p:nvSpPr>
          <p:cNvPr id="22" name="线条"/>
          <p:cNvSpPr/>
          <p:nvPr/>
        </p:nvSpPr>
        <p:spPr>
          <a:xfrm>
            <a:off x="2873297" y="13221431"/>
            <a:ext cx="21477106" cy="1"/>
          </a:xfrm>
          <a:prstGeom prst="line">
            <a:avLst/>
          </a:prstGeom>
          <a:ln w="25400">
            <a:solidFill>
              <a:srgbClr val="0433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" name="第2节 数列的极限"/>
          <p:cNvSpPr txBox="1"/>
          <p:nvPr/>
        </p:nvSpPr>
        <p:spPr>
          <a:xfrm>
            <a:off x="-81265" y="13018231"/>
            <a:ext cx="346590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0433FF"/>
                </a:solidFill>
              </a:defRPr>
            </a:lvl1pPr>
          </a:lstStyle>
          <a:p>
            <a:pPr/>
            <a:r>
              <a:t>第2节 数列的极限</a:t>
            </a:r>
          </a:p>
        </p:txBody>
      </p:sp>
      <p:sp>
        <p:nvSpPr>
          <p:cNvPr id="2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白色弧形层叠图案的特写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2" name="幻灯片标题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3" name="正文级别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白色弧形石头边缘的特写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0" name="幻灯片副标题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幻灯片标题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71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81" name="幻灯片标题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章节标题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线条"/>
          <p:cNvSpPr/>
          <p:nvPr/>
        </p:nvSpPr>
        <p:spPr>
          <a:xfrm>
            <a:off x="-149414" y="575780"/>
            <a:ext cx="21588507" cy="1"/>
          </a:xfrm>
          <a:prstGeom prst="line">
            <a:avLst/>
          </a:prstGeom>
          <a:ln w="25400">
            <a:solidFill>
              <a:srgbClr val="0433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9" name="第十二章  无穷级数"/>
          <p:cNvSpPr txBox="1"/>
          <p:nvPr/>
        </p:nvSpPr>
        <p:spPr>
          <a:xfrm>
            <a:off x="19569884" y="372580"/>
            <a:ext cx="484056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2400">
                <a:solidFill>
                  <a:srgbClr val="0433FF"/>
                </a:solidFill>
              </a:defRPr>
            </a:lvl1pPr>
          </a:lstStyle>
          <a:p>
            <a:pPr/>
            <a:r>
              <a:t>第十二章  无穷级数</a:t>
            </a:r>
          </a:p>
        </p:txBody>
      </p:sp>
      <p:sp>
        <p:nvSpPr>
          <p:cNvPr id="100" name="线条"/>
          <p:cNvSpPr/>
          <p:nvPr/>
        </p:nvSpPr>
        <p:spPr>
          <a:xfrm>
            <a:off x="4341796" y="13221431"/>
            <a:ext cx="20008607" cy="1"/>
          </a:xfrm>
          <a:prstGeom prst="line">
            <a:avLst/>
          </a:prstGeom>
          <a:ln w="25400">
            <a:solidFill>
              <a:srgbClr val="0433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1" name="第1节 常数项级数的概念和性质"/>
          <p:cNvSpPr txBox="1"/>
          <p:nvPr/>
        </p:nvSpPr>
        <p:spPr>
          <a:xfrm>
            <a:off x="-81265" y="13018231"/>
            <a:ext cx="442576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0433FF"/>
                </a:solidFill>
              </a:defRPr>
            </a:lvl1pPr>
          </a:lstStyle>
          <a:p>
            <a:pPr/>
            <a:r>
              <a:t>第1节 常数项级数的概念和性质</a:t>
            </a:r>
          </a:p>
        </p:txBody>
      </p:sp>
      <p:sp>
        <p:nvSpPr>
          <p:cNvPr id="102" name="幻灯片标题"/>
          <p:cNvSpPr txBox="1"/>
          <p:nvPr>
            <p:ph type="title" hasCustomPrompt="1"/>
          </p:nvPr>
        </p:nvSpPr>
        <p:spPr>
          <a:xfrm>
            <a:off x="1244503" y="653012"/>
            <a:ext cx="24263692" cy="84501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3" name="正文级别 1…"/>
          <p:cNvSpPr txBox="1"/>
          <p:nvPr>
            <p:ph type="body" idx="1" hasCustomPrompt="1"/>
          </p:nvPr>
        </p:nvSpPr>
        <p:spPr>
          <a:xfrm>
            <a:off x="1279514" y="2653884"/>
            <a:ext cx="21824972" cy="7022799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  <a:lvl2pPr marL="0" indent="457200">
              <a:buSzTx/>
              <a:buNone/>
            </a:lvl2pPr>
            <a:lvl3pPr marL="0" indent="914400">
              <a:buSzTx/>
              <a:buNone/>
            </a:lvl3pPr>
            <a:lvl4pPr marL="0" indent="1371600">
              <a:buSzTx/>
              <a:buNone/>
            </a:lvl4pPr>
            <a:lvl5pPr marL="0" indent="1828800">
              <a:buSzTx/>
              <a:buNone/>
            </a:lvl5pPr>
          </a:lstStyle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4" name="标题"/>
          <p:cNvSpPr/>
          <p:nvPr>
            <p:ph type="body" sz="quarter" idx="13"/>
          </p:nvPr>
        </p:nvSpPr>
        <p:spPr>
          <a:xfrm>
            <a:off x="1279514" y="1945224"/>
            <a:ext cx="21824972" cy="60706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</p:spPr>
        <p:txBody>
          <a:bodyPr>
            <a:noAutofit/>
          </a:bodyPr>
          <a:lstStyle>
            <a:lvl1pPr marL="0" indent="0" defTabSz="825500">
              <a:spcBef>
                <a:spcPts val="0"/>
              </a:spcBef>
              <a:buSzTx/>
              <a:buNone/>
              <a:defRPr sz="4000">
                <a:solidFill>
                  <a:srgbClr val="0433FF"/>
                </a:solidFill>
                <a:latin typeface="+mn-lt"/>
                <a:ea typeface="+mn-ea"/>
                <a:cs typeface="+mn-cs"/>
                <a:sym typeface="Heiti SC Medium"/>
              </a:defRPr>
            </a:lvl1pPr>
          </a:lstStyle>
          <a:p>
            <a:pPr/>
            <a:r>
              <a:t>标题</a:t>
            </a:r>
          </a:p>
        </p:txBody>
      </p:sp>
      <p:sp>
        <p:nvSpPr>
          <p:cNvPr id="10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正文级别 1…"/>
          <p:cNvSpPr txBox="1"/>
          <p:nvPr>
            <p:ph type="body" idx="1" hasCustomPrompt="1"/>
          </p:nvPr>
        </p:nvSpPr>
        <p:spPr>
          <a:xfrm>
            <a:off x="1347754" y="2048806"/>
            <a:ext cx="21971001" cy="10296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0" indent="457200">
              <a:spcBef>
                <a:spcPts val="6000"/>
              </a:spcBef>
              <a:buSzTx/>
              <a:buNone/>
              <a:defRPr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0" indent="914400">
              <a:spcBef>
                <a:spcPts val="6000"/>
              </a:spcBef>
              <a:buSzTx/>
              <a:buNone/>
              <a:defRPr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0" indent="1371600">
              <a:spcBef>
                <a:spcPts val="6000"/>
              </a:spcBef>
              <a:buSzTx/>
              <a:buNone/>
              <a:defRPr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0" indent="1828800">
              <a:spcBef>
                <a:spcPts val="6000"/>
              </a:spcBef>
              <a:buSzTx/>
              <a:buNone/>
              <a:defRPr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3" name="议程标题"/>
          <p:cNvSpPr txBox="1"/>
          <p:nvPr>
            <p:ph type="title" hasCustomPrompt="1"/>
          </p:nvPr>
        </p:nvSpPr>
        <p:spPr>
          <a:xfrm>
            <a:off x="1206500" y="533445"/>
            <a:ext cx="23137416" cy="869551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正文级别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正文级别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0" name="事实信息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</a:lstStyle>
          <a:p>
            <a:pPr/>
            <a:r>
              <a:t>事实信息</a:t>
            </a:r>
          </a:p>
        </p:txBody>
      </p:sp>
      <p:sp>
        <p:nvSpPr>
          <p:cNvPr id="1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出自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spcBef>
                <a:spcPts val="0"/>
              </a:spcBef>
              <a:buSzTx/>
              <a:buNone/>
              <a:defRPr sz="3420">
                <a:solidFill>
                  <a:schemeClr val="accent1">
                    <a:satOff val="-9155"/>
                    <a:lumOff val="-32673"/>
                  </a:schemeClr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出自</a:t>
            </a:r>
          </a:p>
        </p:txBody>
      </p:sp>
      <p:sp>
        <p:nvSpPr>
          <p:cNvPr id="139" name="正文级别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solidFill>
                  <a:schemeClr val="accent1">
                    <a:satOff val="-9155"/>
                    <a:lumOff val="-32673"/>
                  </a:schemeClr>
                </a:solidFill>
                <a:latin typeface="+mj-lt"/>
                <a:ea typeface="+mj-ea"/>
                <a:cs typeface="+mj-cs"/>
                <a:sym typeface="Produkt Extralight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白色弧形层叠图案的特写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8" name="灰色石头层叠图案的特写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9" name="白色罗纹图案的特写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棱角分明且带阴影的未来感白色走廊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solidFill>
                  <a:schemeClr val="accent1">
                    <a:satOff val="-9155"/>
                    <a:lumOff val="-32673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70" strike="noStrike" sz="7000" u="none">
          <a:solidFill>
            <a:srgbClr val="0433FF"/>
          </a:solidFill>
          <a:uFillTx/>
          <a:latin typeface="+mn-lt"/>
          <a:ea typeface="+mn-ea"/>
          <a:cs typeface="+mn-cs"/>
          <a:sym typeface="Heiti SC Medium"/>
        </a:defRPr>
      </a:lvl9pPr>
    </p:titleStyle>
    <p:bodyStyle>
      <a:lvl1pPr marL="5715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1pPr>
      <a:lvl2pPr marL="10287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2pPr>
      <a:lvl3pPr marL="14859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3pPr>
      <a:lvl4pPr marL="19431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4pPr>
      <a:lvl5pPr marL="24003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5pPr>
      <a:lvl6pPr marL="28575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6pPr>
      <a:lvl7pPr marL="33147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7pPr>
      <a:lvl8pPr marL="37719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8pPr>
      <a:lvl9pPr marL="4229100" marR="0" indent="-5715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SimSong Bold"/>
          <a:ea typeface="SimSong Bold"/>
          <a:cs typeface="SimSong Bold"/>
          <a:sym typeface="SimSong Bold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12.7节主要内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12.7节主要内容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定义"/>
          <p:cNvSpPr txBox="1"/>
          <p:nvPr/>
        </p:nvSpPr>
        <p:spPr>
          <a:xfrm>
            <a:off x="1682685" y="2191843"/>
            <a:ext cx="1384301" cy="730252"/>
          </a:xfrm>
          <a:prstGeom prst="rect">
            <a:avLst/>
          </a:prstGeom>
          <a:solidFill>
            <a:srgbClr val="05926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iti SC Medium"/>
              </a:defRPr>
            </a:lvl1pPr>
          </a:lstStyle>
          <a:p>
            <a:pPr/>
            <a:r>
              <a:t>定义</a:t>
            </a:r>
          </a:p>
        </p:txBody>
      </p:sp>
      <p:sp>
        <p:nvSpPr>
          <p:cNvPr id="178" name="形如   的函数项级数称为三角级数."/>
          <p:cNvSpPr txBox="1"/>
          <p:nvPr/>
        </p:nvSpPr>
        <p:spPr>
          <a:xfrm>
            <a:off x="3518989" y="1781028"/>
            <a:ext cx="17746697" cy="1799076"/>
          </a:xfrm>
          <a:prstGeom prst="rect">
            <a:avLst/>
          </a:prstGeom>
          <a:solidFill>
            <a:schemeClr val="accent4">
              <a:hueOff val="112711"/>
              <a:satOff val="-6790"/>
              <a:lumOff val="985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形如 </a:t>
            </a:r>
            <a14:m>
              <m:oMath>
                <m:f>
                  <m:fPr>
                    <m:ctrl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b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num>
                  <m:den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limUpp>
                  <m:e>
                    <m:limLow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lim>
                </m:limUpp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cos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e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的函数项级数称为三角级数.</a:t>
            </a:r>
          </a:p>
        </p:txBody>
      </p:sp>
      <p:sp>
        <p:nvSpPr>
          <p:cNvPr id="179" name="定义"/>
          <p:cNvSpPr txBox="1"/>
          <p:nvPr/>
        </p:nvSpPr>
        <p:spPr>
          <a:xfrm>
            <a:off x="1682685" y="4303435"/>
            <a:ext cx="1384301" cy="730251"/>
          </a:xfrm>
          <a:prstGeom prst="rect">
            <a:avLst/>
          </a:prstGeom>
          <a:solidFill>
            <a:srgbClr val="05926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iti SC Medium"/>
              </a:defRPr>
            </a:lvl1pPr>
          </a:lstStyle>
          <a:p>
            <a:pPr/>
            <a:r>
              <a:t>定义</a:t>
            </a:r>
          </a:p>
        </p:txBody>
      </p:sp>
      <p:sp>
        <p:nvSpPr>
          <p:cNvPr id="180" name="集合：…"/>
          <p:cNvSpPr txBox="1"/>
          <p:nvPr/>
        </p:nvSpPr>
        <p:spPr>
          <a:xfrm>
            <a:off x="3518989" y="4220689"/>
            <a:ext cx="17746698" cy="3226437"/>
          </a:xfrm>
          <a:prstGeom prst="rect">
            <a:avLst/>
          </a:prstGeom>
          <a:solidFill>
            <a:schemeClr val="accent4">
              <a:hueOff val="112711"/>
              <a:satOff val="-6790"/>
              <a:lumOff val="985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集合：</a:t>
            </a:r>
          </a:p>
          <a:p>
            <a:pPr algn="ctr"/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</a:p>
          <a:p>
            <a:pPr/>
            <a:r>
              <a:t>称为三角函数系；</a:t>
            </a:r>
          </a:p>
        </p:txBody>
      </p:sp>
      <p:sp>
        <p:nvSpPr>
          <p:cNvPr id="181" name="三角函数系中的函数具有正交性；…"/>
          <p:cNvSpPr txBox="1"/>
          <p:nvPr/>
        </p:nvSpPr>
        <p:spPr>
          <a:xfrm>
            <a:off x="5408264" y="8087710"/>
            <a:ext cx="13024627" cy="3220723"/>
          </a:xfrm>
          <a:prstGeom prst="rect">
            <a:avLst/>
          </a:prstGeom>
          <a:solidFill>
            <a:schemeClr val="accent6">
              <a:hueOff val="20365414"/>
              <a:satOff val="10503"/>
              <a:lumOff val="1794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三角函数系中的函数具有</a:t>
            </a:r>
            <a:r>
              <a:rPr>
                <a:solidFill>
                  <a:srgbClr val="FF2600"/>
                </a:solidFill>
              </a:rPr>
              <a:t>正交性</a:t>
            </a:r>
            <a:r>
              <a:t>；</a:t>
            </a:r>
          </a:p>
          <a:p>
            <a:pPr/>
            <a:r>
              <a:t>即</a:t>
            </a:r>
            <a:r>
              <a:rPr>
                <a:solidFill>
                  <a:srgbClr val="FF2600"/>
                </a:solidFill>
              </a:rPr>
              <a:t>不相同函数</a:t>
            </a:r>
            <a:r>
              <a:t>的乘积在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 上的</a:t>
            </a:r>
            <a:r>
              <a:rPr>
                <a:solidFill>
                  <a:srgbClr val="FF2600"/>
                </a:solidFill>
              </a:rPr>
              <a:t>积分为0</a:t>
            </a:r>
            <a:r>
              <a:t>；</a:t>
            </a:r>
          </a:p>
          <a:p>
            <a:pPr/>
            <a:r>
              <a:rPr>
                <a:solidFill>
                  <a:srgbClr val="FF2600"/>
                </a:solidFill>
              </a:rPr>
              <a:t>相同函数</a:t>
            </a:r>
            <a:r>
              <a:t>的乘积在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 上的</a:t>
            </a:r>
            <a:r>
              <a:rPr>
                <a:solidFill>
                  <a:srgbClr val="FF2600"/>
                </a:solidFill>
              </a:rPr>
              <a:t>积分不为0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定义"/>
          <p:cNvSpPr txBox="1"/>
          <p:nvPr/>
        </p:nvSpPr>
        <p:spPr>
          <a:xfrm>
            <a:off x="693906" y="736767"/>
            <a:ext cx="1384301" cy="730252"/>
          </a:xfrm>
          <a:prstGeom prst="rect">
            <a:avLst/>
          </a:prstGeom>
          <a:solidFill>
            <a:srgbClr val="05926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iti SC Medium"/>
              </a:defRPr>
            </a:lvl1pPr>
          </a:lstStyle>
          <a:p>
            <a:pPr/>
            <a:r>
              <a:t>定义</a:t>
            </a:r>
          </a:p>
        </p:txBody>
      </p:sp>
      <p:sp>
        <p:nvSpPr>
          <p:cNvPr id="184" name="设   是以   为周期的函数，且在   上可积，则…"/>
          <p:cNvSpPr txBox="1"/>
          <p:nvPr/>
        </p:nvSpPr>
        <p:spPr>
          <a:xfrm>
            <a:off x="2283015" y="712575"/>
            <a:ext cx="21405871" cy="10913621"/>
          </a:xfrm>
          <a:prstGeom prst="rect">
            <a:avLst/>
          </a:prstGeom>
          <a:solidFill>
            <a:schemeClr val="accent4">
              <a:hueOff val="112711"/>
              <a:satOff val="-6790"/>
              <a:lumOff val="985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t>设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是以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为周期的函数，且在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 上可积，则</a:t>
            </a:r>
          </a:p>
          <a:p>
            <a:pPr algn="ctr">
              <a:lnSpc>
                <a:spcPct val="80000"/>
              </a:lnSpc>
              <a:defRPr>
                <a:solidFill>
                  <a:srgbClr val="FF2600"/>
                </a:solidFill>
              </a:defRPr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0,1,2,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</a:p>
          <a:p>
            <a:pPr algn="ctr">
              <a:lnSpc>
                <a:spcPct val="80000"/>
              </a:lnSpc>
              <a:defRPr>
                <a:solidFill>
                  <a:srgbClr val="FF2600"/>
                </a:solidFill>
              </a:defRPr>
            </a:pPr>
            <a14:m>
              <m:oMathPara>
                <m:oMathParaPr>
                  <m:jc m:val="center"/>
                </m:oMathParaPr>
                <m:oMath>
                  <m:sSub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1,2,3,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,</m:t>
                  </m:r>
                </m:oMath>
              </m:oMathPara>
            </a14:m>
          </a:p>
          <a:p>
            <a:pPr>
              <a:lnSpc>
                <a:spcPct val="80000"/>
              </a:lnSpc>
            </a:pPr>
            <a:r>
              <a:t>称为</a:t>
            </a:r>
            <a:r>
              <a:rPr>
                <a:solidFill>
                  <a:srgbClr val="FF2600"/>
                </a:solidFill>
              </a:rPr>
              <a:t>函数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solidFill>
                  <a:srgbClr val="FF2600"/>
                </a:solidFill>
              </a:rPr>
              <a:t> 的傅立叶系数</a:t>
            </a:r>
            <a:r>
              <a:t>.以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的傅立叶系数为系数的三角级数：</a:t>
            </a:r>
          </a:p>
          <a:p>
            <a:pPr algn="ctr">
              <a:lnSpc>
                <a:spcPct val="80000"/>
              </a:lnSpc>
              <a:defRPr>
                <a:solidFill>
                  <a:srgbClr val="FF2600"/>
                </a:solidFill>
              </a:defRPr>
            </a:pPr>
            <a14:m>
              <m:oMathPara>
                <m:oMathParaPr>
                  <m:jc m:val="center"/>
                </m:oMathParaPr>
                <m:oMath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+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m:rPr>
                          <m:sty m:val="p"/>
                        </m:r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Upp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  <a:p>
            <a:pPr>
              <a:lnSpc>
                <a:spcPct val="80000"/>
              </a:lnSpc>
            </a:pPr>
            <a:r>
              <a:t>称为</a:t>
            </a:r>
            <a:r>
              <a:rPr>
                <a:solidFill>
                  <a:srgbClr val="FF2600"/>
                </a:solidFill>
              </a:rPr>
              <a:t>函数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solidFill>
                  <a:srgbClr val="FF2600"/>
                </a:solidFill>
              </a:rPr>
              <a:t> 的傅立叶级数</a:t>
            </a:r>
            <a:r>
              <a:t>，记为：</a:t>
            </a:r>
          </a:p>
          <a:p>
            <a:pPr algn="ctr">
              <a:lnSpc>
                <a:spcPct val="80000"/>
              </a:lnSpc>
              <a:defRPr>
                <a:solidFill>
                  <a:srgbClr val="FF2600"/>
                </a:solidFill>
              </a:defRPr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∼</m:t>
                  </m:r>
                </m:oMath>
              </m:oMathPara>
            </a14:m>
            <a14:m>
              <m:oMathPara>
                <m:oMathParaPr>
                  <m:jc m:val="center"/>
                </m:oMathParaPr>
                <m:oMath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+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FF26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m:rPr>
                          <m:sty m:val="p"/>
                        </m:r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Upp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FF26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收敛定理"/>
          <p:cNvSpPr txBox="1"/>
          <p:nvPr/>
        </p:nvSpPr>
        <p:spPr>
          <a:xfrm>
            <a:off x="782190" y="613170"/>
            <a:ext cx="2654301" cy="730251"/>
          </a:xfrm>
          <a:prstGeom prst="rect">
            <a:avLst/>
          </a:prstGeom>
          <a:solidFill>
            <a:srgbClr val="05926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iti SC Medium"/>
              </a:defRPr>
            </a:lvl1pPr>
          </a:lstStyle>
          <a:p>
            <a:pPr/>
            <a:r>
              <a:t>收敛定理</a:t>
            </a:r>
          </a:p>
        </p:txBody>
      </p:sp>
      <p:sp>
        <p:nvSpPr>
          <p:cNvPr id="187" name="设   是周期为   的周期函数，且在区间   上满足狄利克雷条件：…"/>
          <p:cNvSpPr txBox="1"/>
          <p:nvPr/>
        </p:nvSpPr>
        <p:spPr>
          <a:xfrm>
            <a:off x="764533" y="1442448"/>
            <a:ext cx="21231053" cy="7582259"/>
          </a:xfrm>
          <a:prstGeom prst="rect">
            <a:avLst/>
          </a:prstGeom>
          <a:solidFill>
            <a:schemeClr val="accent4">
              <a:hueOff val="112711"/>
              <a:satOff val="-6790"/>
              <a:lumOff val="985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设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是周期为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的周期函数，且在区间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 上满足狄利克雷条件：</a:t>
            </a:r>
          </a:p>
          <a:p>
            <a:pPr/>
            <a:r>
              <a:t>（1）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连续或只有有限个间断点；</a:t>
            </a:r>
          </a:p>
          <a:p>
            <a:pPr/>
            <a:r>
              <a:t>（2）仅有有限个极值点；</a:t>
            </a:r>
          </a:p>
          <a:p>
            <a:pPr/>
            <a:r>
              <a:t>则函数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的傅立叶级数 </a:t>
            </a:r>
            <a14:m>
              <m:oMath>
                <m:f>
                  <m:fPr>
                    <m:ctrl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b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num>
                  <m:den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limUpp>
                  <m:e>
                    <m:limLow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lim>
                </m:limUpp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cos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e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收敛，且</a:t>
            </a:r>
          </a:p>
          <a:p>
            <a:pPr>
              <a:defRPr>
                <a:solidFill>
                  <a:srgbClr val="FF2600"/>
                </a:solidFill>
              </a:defRPr>
            </a:pPr>
            <a:r>
              <a:t>当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 是连续点时，收敛到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; 当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 是间断点时，收敛到 </a:t>
            </a:r>
            <a14:m>
              <m:oMath>
                <m:f>
                  <m:fPr>
                    <m:ctrlP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-</m:t>
                        </m:r>
                      </m:sup>
                    </m:sSup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</a:p>
        </p:txBody>
      </p:sp>
      <p:sp>
        <p:nvSpPr>
          <p:cNvPr id="188" name="即："/>
          <p:cNvSpPr txBox="1"/>
          <p:nvPr/>
        </p:nvSpPr>
        <p:spPr>
          <a:xfrm>
            <a:off x="746876" y="9123733"/>
            <a:ext cx="13843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即：</a:t>
            </a:r>
          </a:p>
        </p:txBody>
      </p:sp>
      <p:sp>
        <p:nvSpPr>
          <p:cNvPr id="189" name=","/>
          <p:cNvSpPr txBox="1"/>
          <p:nvPr/>
        </p:nvSpPr>
        <p:spPr>
          <a:xfrm>
            <a:off x="4069784" y="9289695"/>
            <a:ext cx="14620551" cy="1810869"/>
          </a:xfrm>
          <a:prstGeom prst="rect">
            <a:avLst/>
          </a:prstGeom>
          <a:solidFill>
            <a:schemeClr val="accent6">
              <a:hueOff val="20365414"/>
              <a:satOff val="10503"/>
              <a:lumOff val="1794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14:m>
              <m:oMath>
                <m:f>
                  <m:fPr>
                    <m:ctrl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b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num>
                  <m:den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limUpp>
                  <m:e>
                    <m:limLow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lim>
                </m:limUpp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cos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e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-</m:t>
                        </m:r>
                      </m:sup>
                    </m:sSup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r>
              <a:t>,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若   仅在   上有定义，则可令…"/>
          <p:cNvSpPr txBox="1"/>
          <p:nvPr/>
        </p:nvSpPr>
        <p:spPr>
          <a:xfrm>
            <a:off x="1947537" y="1682930"/>
            <a:ext cx="20737913" cy="7470380"/>
          </a:xfrm>
          <a:prstGeom prst="rect">
            <a:avLst/>
          </a:prstGeom>
          <a:solidFill>
            <a:schemeClr val="accent4">
              <a:hueOff val="112711"/>
              <a:satOff val="-6790"/>
              <a:lumOff val="985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仅在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 上有定义，则可令</a:t>
            </a:r>
          </a:p>
          <a:p>
            <a:pPr/>
            <a:r>
              <a:t>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{</m:t>
                </m:r>
                <m:m>
                  <m:mPr>
                    <m:ctrlP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</m:ctrlPr>
                    <m:baseJc m:val="center"/>
                    <m:plcHide m:val="on"/>
                    <m:mcs>
                      <m:mc>
                        <m:mcPr>
                          <m:count m:val="2"/>
                          <m:mcJc m:val="center"/>
                        </m:mcPr>
                      </m:mc>
                    </m:mcs>
                  </m:mPr>
                  <m:mr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e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e>
                  </m:mr>
                  <m:mr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e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为其它值</m:t>
                      </m:r>
                    </m:e>
                  </m:mr>
                </m:m>
              </m:oMath>
            </a14:m>
            <a:r>
              <a:rPr>
                <a:solidFill>
                  <a:srgbClr val="FF2600"/>
                </a:solidFill>
              </a:rPr>
              <a:t> 或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{</m:t>
                </m:r>
                <m:m>
                  <m:mPr>
                    <m:ctrlP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</m:ctrlPr>
                    <m:baseJc m:val="center"/>
                    <m:plcHide m:val="on"/>
                    <m:mcs>
                      <m:mc>
                        <m:mcPr>
                          <m:count m:val="2"/>
                          <m:mcJc m:val="center"/>
                        </m:mcPr>
                      </m:mc>
                    </m:mcs>
                  </m:mPr>
                  <m:mr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e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e>
                  </m:mr>
                  <m:mr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e>
                    <m:e>
                      <m: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xmlns:a="http://schemas.openxmlformats.org/drawingml/2006/main" sz="5000" i="1">
                          <a:solidFill>
                            <a:srgbClr val="FF2600"/>
                          </a:solidFill>
                          <a:latin typeface="Cambria Math" panose="02040503050406030204" pitchFamily="18" charset="0"/>
                        </a:rPr>
                        <m:t>为其它值</m:t>
                      </m:r>
                    </m:e>
                  </m:mr>
                </m:m>
              </m:oMath>
            </a14:m>
            <a:endParaRPr>
              <a:solidFill>
                <a:srgbClr val="FF2600"/>
              </a:solidFill>
            </a:endParaRPr>
          </a:p>
          <a:p>
            <a:pPr/>
            <a:r>
              <a:t>作周期延拓，若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满足狄利克雷的条件，则可求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的傅立叶级数展</a:t>
            </a:r>
          </a:p>
          <a:p>
            <a:pPr/>
            <a:r>
              <a:t>开，最后再限制到 </a:t>
            </a:r>
            <a14:m>
              <m:oMath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上得到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的傅立叶级数展开；但是要注意这</a:t>
            </a:r>
          </a:p>
          <a:p>
            <a:pPr/>
            <a:r>
              <a:t>个级数在端点处收敛到 </a:t>
            </a:r>
            <a14:m>
              <m:oMath>
                <m:f>
                  <m:fPr>
                    <m:ctrlP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-</m:t>
                    </m:r>
                    <m:sSup>
                      <m:e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-</m:t>
                        </m:r>
                      </m:sup>
                    </m:sSup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endParaRPr>
              <a:solidFill>
                <a:srgbClr val="FF26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若   是以   为周期的奇函数，则其傅立叶系数为：…"/>
          <p:cNvSpPr txBox="1"/>
          <p:nvPr/>
        </p:nvSpPr>
        <p:spPr>
          <a:xfrm>
            <a:off x="1381633" y="279649"/>
            <a:ext cx="21338225" cy="6355630"/>
          </a:xfrm>
          <a:prstGeom prst="rect">
            <a:avLst/>
          </a:prstGeom>
          <a:solidFill>
            <a:schemeClr val="accent4">
              <a:hueOff val="112711"/>
              <a:satOff val="-6790"/>
              <a:lumOff val="985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70000"/>
              </a:lnSpc>
            </a:pPr>
            <a:r>
              <a:t>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是以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为周期的</a:t>
            </a:r>
            <a:r>
              <a:rPr>
                <a:solidFill>
                  <a:srgbClr val="FF2600"/>
                </a:solidFill>
              </a:rPr>
              <a:t>奇函数</a:t>
            </a:r>
            <a:r>
              <a:t>，则其傅立叶系数为：</a:t>
            </a:r>
          </a:p>
          <a:p>
            <a:pPr>
              <a:lnSpc>
                <a:spcPct val="70000"/>
              </a:lnSpc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0,1,2,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</m:oMath>
              </m:oMathPara>
            </a14:m>
          </a:p>
          <a:p>
            <a:pPr>
              <a:lnSpc>
                <a:spcPct val="70000"/>
              </a:lnSpc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1,2,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</m:oMath>
              </m:oMathPara>
            </a14:m>
          </a:p>
          <a:p>
            <a:pPr>
              <a:lnSpc>
                <a:spcPct val="70000"/>
              </a:lnSpc>
            </a:pPr>
            <a:r>
              <a:t>故其傅立叶级数为</a:t>
            </a:r>
            <a:r>
              <a:rPr>
                <a:solidFill>
                  <a:srgbClr val="FF2600"/>
                </a:solidFill>
              </a:rPr>
              <a:t>正弦级数：</a:t>
            </a:r>
            <a14:m>
              <m:oMath>
                <m:limUpp>
                  <m:e>
                    <m:limLow>
                      <m:e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lim>
                </m:limUpp>
                <m:sSub>
                  <m:e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sin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，</a:t>
            </a:r>
            <a:endParaRPr>
              <a:solidFill>
                <a:srgbClr val="FF2600"/>
              </a:solidFill>
            </a:endParaRPr>
          </a:p>
        </p:txBody>
      </p:sp>
      <p:sp>
        <p:nvSpPr>
          <p:cNvPr id="194" name="若   是以   为周期的偶函数，则其傅立叶系数为：…"/>
          <p:cNvSpPr txBox="1"/>
          <p:nvPr/>
        </p:nvSpPr>
        <p:spPr>
          <a:xfrm>
            <a:off x="1381633" y="6798399"/>
            <a:ext cx="21338225" cy="6355631"/>
          </a:xfrm>
          <a:prstGeom prst="rect">
            <a:avLst/>
          </a:prstGeom>
          <a:solidFill>
            <a:schemeClr val="accent4">
              <a:hueOff val="112711"/>
              <a:satOff val="-6790"/>
              <a:lumOff val="985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70000"/>
              </a:lnSpc>
            </a:pPr>
            <a:r>
              <a:t>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是以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为周期的</a:t>
            </a:r>
            <a:r>
              <a:rPr>
                <a:solidFill>
                  <a:srgbClr val="FF2600"/>
                </a:solidFill>
              </a:rPr>
              <a:t>偶函数</a:t>
            </a:r>
            <a:r>
              <a:t>，则其傅立叶系数为：</a:t>
            </a:r>
          </a:p>
          <a:p>
            <a:pPr>
              <a:lnSpc>
                <a:spcPct val="70000"/>
              </a:lnSpc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sin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1,2,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</m:oMath>
              </m:oMathPara>
            </a14:m>
          </a:p>
          <a:p>
            <a:pPr>
              <a:lnSpc>
                <a:spcPct val="70000"/>
              </a:lnSpc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num>
                    <m:den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den>
                  </m:f>
                  <m:sSubSup>
                    <m:e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  <m:sup>
                      <m: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sup>
                  </m:sSubSup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cos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m:rPr>
                      <m:sty m:val="p"/>
                    </m:rP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0,1,2,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…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;</m:t>
                  </m:r>
                </m:oMath>
              </m:oMathPara>
            </a14:m>
          </a:p>
          <a:p>
            <a:pPr>
              <a:lnSpc>
                <a:spcPct val="70000"/>
              </a:lnSpc>
            </a:pPr>
            <a:r>
              <a:t>故其傅立叶级数为</a:t>
            </a:r>
            <a:r>
              <a:rPr>
                <a:solidFill>
                  <a:srgbClr val="FF2600"/>
                </a:solidFill>
              </a:rPr>
              <a:t>余弦级数：</a:t>
            </a:r>
            <a14:m>
              <m:oMath>
                <m:f>
                  <m:fPr>
                    <m:ctrlP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b>
                      <m:e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num>
                  <m:den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+</m:t>
                </m:r>
                <m:limUpp>
                  <m:e>
                    <m:limLow>
                      <m:e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5000" i="1">
                            <a:solidFill>
                              <a:srgbClr val="FF2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</m:e>
                  <m:lim>
                    <m:r>
                      <m:rPr>
                        <m:sty m:val="p"/>
                      </m:rP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∞</m:t>
                    </m:r>
                  </m:lim>
                </m:limUpp>
                <m:sSub>
                  <m:e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b>
                    <m:r>
                      <a:rPr xmlns:a="http://schemas.openxmlformats.org/drawingml/2006/main" sz="5000" i="1">
                        <a:solidFill>
                          <a:srgbClr val="FF26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cos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5000" i="1">
                    <a:solidFill>
                      <a:srgbClr val="FF26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，</a:t>
            </a:r>
            <a:endParaRPr>
              <a:solidFill>
                <a:srgbClr val="FF26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例1."/>
          <p:cNvSpPr txBox="1"/>
          <p:nvPr/>
        </p:nvSpPr>
        <p:spPr>
          <a:xfrm>
            <a:off x="1488461" y="1111605"/>
            <a:ext cx="13843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例1.</a:t>
            </a:r>
          </a:p>
        </p:txBody>
      </p:sp>
      <p:sp>
        <p:nvSpPr>
          <p:cNvPr id="198" name="设   是以   为周期的函数，且…"/>
          <p:cNvSpPr txBox="1"/>
          <p:nvPr/>
        </p:nvSpPr>
        <p:spPr>
          <a:xfrm>
            <a:off x="3148197" y="1104815"/>
            <a:ext cx="20173436" cy="6153153"/>
          </a:xfrm>
          <a:prstGeom prst="rect">
            <a:avLst/>
          </a:prstGeom>
          <a:solidFill>
            <a:srgbClr val="C0C0C0"/>
          </a:solidFill>
          <a:ln w="25400">
            <a:solidFill>
              <a:srgbClr val="000000"/>
            </a:solidFill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设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是以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为周期的函数，且</a:t>
            </a:r>
          </a:p>
          <a:p>
            <a:pPr algn="ctr"/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m>
                    <m:mPr>
                      <m:ctrlPr>
                        <a:rPr xmlns:a="http://schemas.openxmlformats.org/drawingml/2006/main" sz="5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aseJc m:val="center"/>
                      <m:plcHide m:val="on"/>
                      <m:mcs>
                        <m:mc>
                          <m:mcPr>
                            <m:count m:val="2"/>
                            <m:mcJc m:val="center"/>
                          </m:mcPr>
                        </m:mc>
                      </m:mcs>
                    </m:mPr>
                    <m:mr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</m:e>
                    </m:mr>
                    <m:mr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-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e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xmlns:a="http://schemas.openxmlformats.org/drawingml/2006/main"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mr>
                  </m:m>
                </m:oMath>
              </m:oMathPara>
            </a14:m>
          </a:p>
          <a:p>
            <a:pPr/>
            <a:r>
              <a:t>则其以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为周期的傅立叶级数,在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π</m:t>
                    </m:r>
                  </m:num>
                  <m:den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</m:oMath>
            </a14:m>
            <a:r>
              <a:t> 处收敛于_______;</a:t>
            </a:r>
          </a:p>
          <a:p>
            <a:pPr/>
            <a:r>
              <a:t>在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处收敛于_________;</a:t>
            </a:r>
          </a:p>
        </p:txBody>
      </p:sp>
      <p:sp>
        <p:nvSpPr>
          <p:cNvPr id="199" name="例2."/>
          <p:cNvSpPr txBox="1"/>
          <p:nvPr/>
        </p:nvSpPr>
        <p:spPr>
          <a:xfrm>
            <a:off x="1488461" y="7796328"/>
            <a:ext cx="13843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例2.</a:t>
            </a:r>
          </a:p>
        </p:txBody>
      </p:sp>
      <p:sp>
        <p:nvSpPr>
          <p:cNvPr id="200" name="已知   在  上以   为周期的傅立叶级数的和函数为  ,…"/>
          <p:cNvSpPr txBox="1"/>
          <p:nvPr/>
        </p:nvSpPr>
        <p:spPr>
          <a:xfrm>
            <a:off x="3190318" y="7930557"/>
            <a:ext cx="20089194" cy="2763523"/>
          </a:xfrm>
          <a:prstGeom prst="rect">
            <a:avLst/>
          </a:prstGeom>
          <a:solidFill>
            <a:srgbClr val="C0C0C0"/>
          </a:solidFill>
          <a:ln w="25400">
            <a:solidFill>
              <a:srgbClr val="000000"/>
            </a:solidFill>
            <a:miter lim="400000"/>
          </a:ln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已知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</m:e>
                  <m:sup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sup>
                </m:sSup>
              </m:oMath>
            </a14:m>
            <a:r>
              <a:t> 在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上以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</m:oMath>
            </a14:m>
            <a:r>
              <a:t> 为周期的傅立叶级数的和函数为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</a:t>
            </a:r>
          </a:p>
          <a:p>
            <a:pPr/>
            <a:r>
              <a:t>求 </a:t>
            </a:r>
            <a14:m>
              <m:oMath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f>
                  <m:fPr>
                    <m:ctrl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π</m:t>
                    </m:r>
                  </m:num>
                  <m:den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f>
                  <m:fPr>
                    <m:ctrlP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num>
                  <m:den>
                    <m:r>
                      <a:rPr xmlns:a="http://schemas.openxmlformats.org/drawingml/2006/main"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den>
                </m:f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5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Heiti SC Medium"/>
        <a:ea typeface="Heiti SC Medium"/>
        <a:cs typeface="Heiti SC Medium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5926A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iti SC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imSong Bold"/>
            <a:ea typeface="SimSong Bold"/>
            <a:cs typeface="SimSong Bold"/>
            <a:sym typeface="SimSong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Heiti SC Medium"/>
        <a:ea typeface="Heiti SC Medium"/>
        <a:cs typeface="Heiti SC Medium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5926A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iti SC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imSong Bold"/>
            <a:ea typeface="SimSong Bold"/>
            <a:cs typeface="SimSong Bold"/>
            <a:sym typeface="SimSong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